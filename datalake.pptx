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8" r:id="rId11"/>
    <p:sldId id="264" r:id="rId12"/>
    <p:sldId id="265" r:id="rId13"/>
    <p:sldId id="267" r:id="rId14"/>
    <p:sldId id="266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1806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16648-739C-511C-4596-CDFB4BB5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203968-5457-718F-0F2C-18BE8AEC8D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929A5-B2C6-E8EB-AE0E-7CDA10165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4C1FD-0BD1-7C89-FC9D-19714C4C95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05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15DA1-1757-65EB-F44E-0652C21EF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2FDE5-4B39-33A2-BFD4-A5305C77B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D9D6FE-50EF-6DC9-1E70-606D69AD7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982DC-8026-D57A-91BE-6A889A149F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0918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FA789-8F34-62BE-0B82-8654ADE5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7A8406-450B-4C68-A24F-A1AEADEDE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7A8E12-FC08-B390-8C7D-95C664C2E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F4CC1-748B-49D4-8AE6-011C067954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869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9453" y="0"/>
            <a:ext cx="2014546" cy="1881188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238500"/>
            <a:ext cx="1905000" cy="1905000"/>
          </a:xfrm>
          <a:prstGeom prst="rect">
            <a:avLst/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56583" y="446178"/>
            <a:ext cx="2621310" cy="325636"/>
          </a:xfrm>
          <a:prstGeom prst="roundRect">
            <a:avLst>
              <a:gd name="adj" fmla="val 117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97891" y="544330"/>
            <a:ext cx="22073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DATALAKE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08764" y="1248064"/>
            <a:ext cx="644313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900"/>
              </a:lnSpc>
              <a:spcAft>
                <a:spcPts val="1200"/>
              </a:spcAft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DATALAKE CLIMAT &amp; RISQUES NARTURELS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860582" y="3622328"/>
            <a:ext cx="8013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96493" y="3847058"/>
            <a:ext cx="17976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ADANTO Ameto Cornelia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67238" y="3622328"/>
            <a:ext cx="9525" cy="384721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49906" y="3622328"/>
            <a:ext cx="8013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49906" y="3820418"/>
            <a:ext cx="8013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16/01/2026</a:t>
            </a:r>
            <a:endParaRPr lang="en-US" sz="105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D81EB42-69EA-92EA-74FA-AFF0A2F85532}"/>
              </a:ext>
            </a:extLst>
          </p:cNvPr>
          <p:cNvSpPr txBox="1"/>
          <p:nvPr/>
        </p:nvSpPr>
        <p:spPr>
          <a:xfrm>
            <a:off x="3272573" y="4424290"/>
            <a:ext cx="2935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MIA-26.2 IPSSI MONTPELLIER</a:t>
            </a:r>
            <a:endParaRPr lang="fr-F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177db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183639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D3B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38200" y="1893540"/>
            <a:ext cx="15150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et contexte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381000" y="225549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D3B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38200" y="2312640"/>
            <a:ext cx="14501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381000" y="267459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D3B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81000" y="309369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D3B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38200" y="2741265"/>
            <a:ext cx="18696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: Vue d'ensemble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381000" y="351279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44256" y="3146077"/>
            <a:ext cx="17498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: Administration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4762500" y="177745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219700" y="1834604"/>
            <a:ext cx="15148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: Monitoring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4762500" y="23145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219700" y="2371725"/>
            <a:ext cx="24823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: Analytics NOAA &amp; USGS</a:t>
            </a:r>
            <a:endParaRPr lang="en-US" sz="1125" dirty="0"/>
          </a:p>
        </p:txBody>
      </p:sp>
      <p:sp>
        <p:nvSpPr>
          <p:cNvPr id="21" name="Text 18"/>
          <p:cNvSpPr/>
          <p:nvPr/>
        </p:nvSpPr>
        <p:spPr>
          <a:xfrm>
            <a:off x="4762500" y="285169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D3B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219700" y="2908846"/>
            <a:ext cx="14339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et bénéfices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4762500" y="327079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D3B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219700" y="3327946"/>
            <a:ext cx="20255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et prochaines étapes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4762500" y="368989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D3B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219700" y="3747046"/>
            <a:ext cx="6562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1125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31BC41E5-9066-1D0E-6274-114940C3340E}"/>
              </a:ext>
            </a:extLst>
          </p:cNvPr>
          <p:cNvSpPr/>
          <p:nvPr/>
        </p:nvSpPr>
        <p:spPr>
          <a:xfrm>
            <a:off x="838200" y="3589883"/>
            <a:ext cx="15148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: Monitoring</a:t>
            </a:r>
            <a:endParaRPr lang="en-US" sz="1125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90BA4803-F7AC-97AB-FF68-F9A2256D0EB6}"/>
              </a:ext>
            </a:extLst>
          </p:cNvPr>
          <p:cNvSpPr/>
          <p:nvPr/>
        </p:nvSpPr>
        <p:spPr>
          <a:xfrm>
            <a:off x="381152" y="394707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C7D61855-08F6-4A66-3FEF-B96F15003FE3}"/>
              </a:ext>
            </a:extLst>
          </p:cNvPr>
          <p:cNvSpPr/>
          <p:nvPr/>
        </p:nvSpPr>
        <p:spPr>
          <a:xfrm>
            <a:off x="838200" y="3994695"/>
            <a:ext cx="1869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: Explorer HDFS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79f49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du projet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1000" y="1876425"/>
            <a:ext cx="4095750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00050" y="1876425"/>
            <a:ext cx="0" cy="93345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861715" y="2053530"/>
            <a:ext cx="11839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2314575"/>
            <a:ext cx="382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fragmentées dans différents silos, rendant l'analyse globale complexe.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667250" y="1962150"/>
            <a:ext cx="4095750" cy="76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686300" y="1962150"/>
            <a:ext cx="0" cy="76200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147965" y="2139255"/>
            <a:ext cx="6726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57750" y="2400300"/>
            <a:ext cx="38279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Centraliser et valoriser les données pour une prise de décision éclairée.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724862" y="3284953"/>
            <a:ext cx="4095750" cy="76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1811508" y="3248025"/>
            <a:ext cx="0" cy="93008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2299257" y="3355261"/>
            <a:ext cx="11866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ENJEUX MÉTIERS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992705" y="3585558"/>
            <a:ext cx="5772660" cy="1022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fr-FR" sz="900" dirty="0">
                <a:latin typeface="Arial" panose="020B0604020202020204" pitchFamily="34" charset="0"/>
                <a:cs typeface="Arial" panose="020B0604020202020204" pitchFamily="34" charset="0"/>
              </a:rPr>
              <a:t>Anticiper les événements climatiques extrêmes (inondations, sécheresses, feux de forêt) grâce à l’analyse de données historiques et en temps réel;</a:t>
            </a:r>
          </a:p>
          <a:p>
            <a:pPr marL="171450" indent="-1714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fr-FR" sz="900" dirty="0">
                <a:latin typeface="Arial" panose="020B0604020202020204" pitchFamily="34" charset="0"/>
                <a:cs typeface="Arial" panose="020B0604020202020204" pitchFamily="34" charset="0"/>
              </a:rPr>
              <a:t>Soutenir la recherche climatique et le développement de modèles prédictifs.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3faf5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</a:t>
            </a:r>
            <a:endParaRPr lang="en-US" sz="2700" dirty="0"/>
          </a:p>
        </p:txBody>
      </p:sp>
      <p:pic>
        <p:nvPicPr>
          <p:cNvPr id="4" name="Image 1" descr="/tmp/rasterized-gradient-8f4305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554659"/>
            <a:ext cx="1881187" cy="12056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47397" y="2097584"/>
            <a:ext cx="7482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876047" y="2314724"/>
            <a:ext cx="89109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multiples</a:t>
            </a:r>
            <a:endParaRPr lang="en-US" sz="825" dirty="0"/>
          </a:p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&amp; Streaming</a:t>
            </a:r>
            <a:endParaRPr lang="en-US" sz="825" dirty="0"/>
          </a:p>
        </p:txBody>
      </p:sp>
      <p:sp>
        <p:nvSpPr>
          <p:cNvPr id="7" name="Text 3"/>
          <p:cNvSpPr/>
          <p:nvPr/>
        </p:nvSpPr>
        <p:spPr>
          <a:xfrm>
            <a:off x="2262188" y="2057400"/>
            <a:ext cx="285750" cy="200025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2" descr="/tmp/rasterized-gradient-b035dc9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7938" y="1554659"/>
            <a:ext cx="1881187" cy="120565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104314" y="2097584"/>
            <a:ext cx="76843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2942034" y="2314724"/>
            <a:ext cx="109299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</a:t>
            </a:r>
            <a:endParaRPr lang="en-US" sz="825" dirty="0"/>
          </a:p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HDFS / Object Storage</a:t>
            </a:r>
            <a:endParaRPr lang="en-US" sz="825" dirty="0"/>
          </a:p>
        </p:txBody>
      </p:sp>
      <p:sp>
        <p:nvSpPr>
          <p:cNvPr id="11" name="Text 6"/>
          <p:cNvSpPr/>
          <p:nvPr/>
        </p:nvSpPr>
        <p:spPr>
          <a:xfrm>
            <a:off x="4429125" y="2057400"/>
            <a:ext cx="285750" cy="200025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3" descr="/tmp/rasterized-gradient-4e2ccdf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1554659"/>
            <a:ext cx="1881187" cy="12056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17209" y="2097584"/>
            <a:ext cx="8765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5206887" y="2314724"/>
            <a:ext cx="89701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ETL/ELT</a:t>
            </a:r>
            <a:endParaRPr lang="en-US" sz="825" dirty="0"/>
          </a:p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/ Processing</a:t>
            </a:r>
            <a:endParaRPr lang="en-US" sz="825" dirty="0"/>
          </a:p>
        </p:txBody>
      </p:sp>
      <p:sp>
        <p:nvSpPr>
          <p:cNvPr id="15" name="Text 9"/>
          <p:cNvSpPr/>
          <p:nvPr/>
        </p:nvSpPr>
        <p:spPr>
          <a:xfrm>
            <a:off x="6596063" y="2057400"/>
            <a:ext cx="285750" cy="200025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4" descr="/tmp/rasterized-gradient-0f554e4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1813" y="1554659"/>
            <a:ext cx="1881187" cy="120565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302173" y="2097584"/>
            <a:ext cx="10403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7492688" y="2314724"/>
            <a:ext cx="68767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825" dirty="0"/>
          </a:p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825" dirty="0"/>
          </a:p>
        </p:txBody>
      </p:sp>
      <p:sp>
        <p:nvSpPr>
          <p:cNvPr id="19" name="Text 12"/>
          <p:cNvSpPr/>
          <p:nvPr/>
        </p:nvSpPr>
        <p:spPr>
          <a:xfrm>
            <a:off x="381000" y="3591074"/>
            <a:ext cx="2667000" cy="622846"/>
          </a:xfrm>
          <a:prstGeom prst="roundRect">
            <a:avLst>
              <a:gd name="adj" fmla="val 917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3"/>
          <p:cNvSpPr/>
          <p:nvPr/>
        </p:nvSpPr>
        <p:spPr>
          <a:xfrm>
            <a:off x="381000" y="3605361"/>
            <a:ext cx="2667000" cy="0"/>
          </a:xfrm>
          <a:prstGeom prst="line">
            <a:avLst/>
          </a:prstGeom>
          <a:noFill/>
          <a:ln w="28575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4"/>
          <p:cNvSpPr/>
          <p:nvPr/>
        </p:nvSpPr>
        <p:spPr>
          <a:xfrm>
            <a:off x="490347" y="3752999"/>
            <a:ext cx="24483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Scalabilité</a:t>
            </a:r>
            <a:endParaRPr lang="en-US" sz="975" dirty="0"/>
          </a:p>
        </p:txBody>
      </p:sp>
      <p:sp>
        <p:nvSpPr>
          <p:cNvPr id="22" name="Text 15"/>
          <p:cNvSpPr/>
          <p:nvPr/>
        </p:nvSpPr>
        <p:spPr>
          <a:xfrm>
            <a:off x="490347" y="3933974"/>
            <a:ext cx="2448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élastique adaptée à la croissance</a:t>
            </a:r>
            <a:endParaRPr lang="en-US" sz="825" dirty="0"/>
          </a:p>
        </p:txBody>
      </p:sp>
      <p:sp>
        <p:nvSpPr>
          <p:cNvPr id="23" name="Text 16"/>
          <p:cNvSpPr/>
          <p:nvPr/>
        </p:nvSpPr>
        <p:spPr>
          <a:xfrm>
            <a:off x="3238500" y="3591074"/>
            <a:ext cx="2667000" cy="622846"/>
          </a:xfrm>
          <a:prstGeom prst="roundRect">
            <a:avLst>
              <a:gd name="adj" fmla="val 917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17"/>
          <p:cNvSpPr/>
          <p:nvPr/>
        </p:nvSpPr>
        <p:spPr>
          <a:xfrm>
            <a:off x="3238500" y="3605361"/>
            <a:ext cx="2667000" cy="0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18"/>
          <p:cNvSpPr/>
          <p:nvPr/>
        </p:nvSpPr>
        <p:spPr>
          <a:xfrm>
            <a:off x="3347847" y="3752999"/>
            <a:ext cx="24483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Sécurité</a:t>
            </a:r>
            <a:endParaRPr lang="en-US" sz="975" dirty="0"/>
          </a:p>
        </p:txBody>
      </p:sp>
      <p:sp>
        <p:nvSpPr>
          <p:cNvPr id="26" name="Text 19"/>
          <p:cNvSpPr/>
          <p:nvPr/>
        </p:nvSpPr>
        <p:spPr>
          <a:xfrm>
            <a:off x="3347847" y="3933974"/>
            <a:ext cx="2448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des données sensibles</a:t>
            </a:r>
            <a:endParaRPr lang="en-US" sz="825" dirty="0"/>
          </a:p>
        </p:txBody>
      </p:sp>
      <p:sp>
        <p:nvSpPr>
          <p:cNvPr id="27" name="Text 20"/>
          <p:cNvSpPr/>
          <p:nvPr/>
        </p:nvSpPr>
        <p:spPr>
          <a:xfrm>
            <a:off x="6096000" y="3591074"/>
            <a:ext cx="2667000" cy="622846"/>
          </a:xfrm>
          <a:prstGeom prst="roundRect">
            <a:avLst>
              <a:gd name="adj" fmla="val 917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1"/>
          <p:cNvSpPr/>
          <p:nvPr/>
        </p:nvSpPr>
        <p:spPr>
          <a:xfrm>
            <a:off x="6096000" y="3605361"/>
            <a:ext cx="2667000" cy="0"/>
          </a:xfrm>
          <a:prstGeom prst="line">
            <a:avLst/>
          </a:prstGeom>
          <a:noFill/>
          <a:ln w="28575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2"/>
          <p:cNvSpPr/>
          <p:nvPr/>
        </p:nvSpPr>
        <p:spPr>
          <a:xfrm>
            <a:off x="6205347" y="3752999"/>
            <a:ext cx="24483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Gouvernance</a:t>
            </a:r>
            <a:endParaRPr lang="en-US" sz="975" dirty="0"/>
          </a:p>
        </p:txBody>
      </p:sp>
      <p:sp>
        <p:nvSpPr>
          <p:cNvPr id="30" name="Text 23"/>
          <p:cNvSpPr/>
          <p:nvPr/>
        </p:nvSpPr>
        <p:spPr>
          <a:xfrm>
            <a:off x="6205347" y="3933974"/>
            <a:ext cx="2448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Catalogage et traçabilité des données</a:t>
            </a:r>
            <a:endParaRPr lang="en-US" sz="825" dirty="0"/>
          </a:p>
        </p:txBody>
      </p:sp>
      <p:sp>
        <p:nvSpPr>
          <p:cNvPr id="31" name="Text 24"/>
          <p:cNvSpPr/>
          <p:nvPr/>
        </p:nvSpPr>
        <p:spPr>
          <a:xfrm>
            <a:off x="381000" y="4366320"/>
            <a:ext cx="8382000" cy="548580"/>
          </a:xfrm>
          <a:prstGeom prst="roundRect">
            <a:avLst>
              <a:gd name="adj" fmla="val 10418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571500" y="4480620"/>
            <a:ext cx="816102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Data Lake vs Data Warehouse :</a:t>
            </a:r>
            <a:r>
              <a:rPr lang="en-US" sz="900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 Data Lake permet de stocker des données brutes de tous formats, offrant flexibilité et agilité pour l'analyse exploratoire et les cas d'usage ML.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684d7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- Vue d'ensemble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1000" y="1123950"/>
            <a:ext cx="3037449" cy="904875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00050" y="1123950"/>
            <a:ext cx="0" cy="904875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837902" y="1286768"/>
            <a:ext cx="13155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centralisée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1533525"/>
            <a:ext cx="2953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d'entrée unique pour tous les utilisateurs du système.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80999" y="2143125"/>
            <a:ext cx="3037447" cy="733425"/>
          </a:xfrm>
          <a:prstGeom prst="roundRect">
            <a:avLst>
              <a:gd name="adj" fmla="val 1039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00050" y="2143125"/>
            <a:ext cx="0" cy="733425"/>
          </a:xfrm>
          <a:prstGeom prst="line">
            <a:avLst/>
          </a:prstGeom>
          <a:noFill/>
          <a:ln w="381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837902" y="2305943"/>
            <a:ext cx="10280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principaux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1500" y="2552700"/>
            <a:ext cx="29535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synthétique des indicateurs clés en temps réel.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1000" y="2990850"/>
            <a:ext cx="3037449" cy="733425"/>
          </a:xfrm>
          <a:prstGeom prst="roundRect">
            <a:avLst>
              <a:gd name="adj" fmla="val 1039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00050" y="2990850"/>
            <a:ext cx="0" cy="733425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837902" y="3153668"/>
            <a:ext cx="167683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Widgets personnalisables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" y="3400425"/>
            <a:ext cx="29535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Adaptable selon le rôle utilisateur.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1000" y="3838575"/>
            <a:ext cx="3037449" cy="733425"/>
          </a:xfrm>
          <a:prstGeom prst="roundRect">
            <a:avLst>
              <a:gd name="adj" fmla="val 1039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00050" y="3838575"/>
            <a:ext cx="0" cy="733425"/>
          </a:xfrm>
          <a:prstGeom prst="line">
            <a:avLst/>
          </a:prstGeom>
          <a:noFill/>
          <a:ln w="381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837902" y="4001393"/>
            <a:ext cx="11795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temps réel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71500" y="4248150"/>
            <a:ext cx="29535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instantanées sur les événements critiques.</a:t>
            </a:r>
            <a:endParaRPr lang="en-US" sz="900" dirty="0"/>
          </a:p>
        </p:txBody>
      </p:sp>
      <p:pic>
        <p:nvPicPr>
          <p:cNvPr id="20" name="Image 1" descr="/home/claude/datalake-pptx/image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37496" y="1026319"/>
            <a:ext cx="5325504" cy="36433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973d6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- Administration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524500" y="912763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538788" y="912763"/>
            <a:ext cx="0" cy="565696"/>
          </a:xfrm>
          <a:prstGeom prst="line">
            <a:avLst/>
          </a:prstGeom>
          <a:noFill/>
          <a:ln w="28575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909965" y="1028998"/>
            <a:ext cx="170537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utilisateurs &amp; RBAC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5667375" y="1217563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accès basé sur les rôles.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5524500" y="1573709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538788" y="1573709"/>
            <a:ext cx="0" cy="565696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909965" y="1689943"/>
            <a:ext cx="134741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sources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5667375" y="1878509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Paramétrage des connecteurs de données.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524500" y="2234654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5538788" y="2234654"/>
            <a:ext cx="0" cy="565696"/>
          </a:xfrm>
          <a:prstGeom prst="line">
            <a:avLst/>
          </a:prstGeom>
          <a:noFill/>
          <a:ln w="28575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909965" y="2350889"/>
            <a:ext cx="130552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Politiques de sécurité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5667375" y="2539454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Définition des règles de protection.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524500" y="2895600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5538788" y="2895600"/>
            <a:ext cx="0" cy="565696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909965" y="3011835"/>
            <a:ext cx="108084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traçabilité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5667375" y="3200400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des accès et des actions.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5524500" y="3556546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5538788" y="3556546"/>
            <a:ext cx="0" cy="565696"/>
          </a:xfrm>
          <a:prstGeom prst="line">
            <a:avLst/>
          </a:prstGeom>
          <a:noFill/>
          <a:ln w="28575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5909965" y="3672780"/>
            <a:ext cx="153019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Catalogage métadonnées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5667375" y="3861346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et gouvernance des données.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5524500" y="4217491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5538788" y="4217491"/>
            <a:ext cx="0" cy="565696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5909965" y="4333726"/>
            <a:ext cx="109253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ETL/ELT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5667375" y="4522291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des flux de transformation.</a:t>
            </a:r>
            <a:endParaRPr lang="en-US" sz="825" dirty="0"/>
          </a:p>
        </p:txBody>
      </p:sp>
      <p:pic>
        <p:nvPicPr>
          <p:cNvPr id="28" name="Image 1" descr="/home/claude/datalake-pptx/image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1026319"/>
            <a:ext cx="4857750" cy="36433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77924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- Monitoring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1000" y="912763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395288" y="912763"/>
            <a:ext cx="0" cy="565696"/>
          </a:xfrm>
          <a:prstGeom prst="line">
            <a:avLst/>
          </a:prstGeom>
          <a:noFill/>
          <a:ln w="28575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766465" y="1028998"/>
            <a:ext cx="141117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temps réel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523875" y="1217563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continu des pipelines de données.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381000" y="1573709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395288" y="1573709"/>
            <a:ext cx="0" cy="565696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766465" y="1689943"/>
            <a:ext cx="15792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 de performance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523875" y="1878509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Latence, débit et taux d'erreurs.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381000" y="2234654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95288" y="2234654"/>
            <a:ext cx="0" cy="565696"/>
          </a:xfrm>
          <a:prstGeom prst="line">
            <a:avLst/>
          </a:prstGeom>
          <a:noFill/>
          <a:ln w="28575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766465" y="2350889"/>
            <a:ext cx="137580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Santé des composants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523875" y="2539454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État de l'infrastructure technique.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381000" y="2895600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395288" y="2895600"/>
            <a:ext cx="0" cy="565696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766465" y="3011835"/>
            <a:ext cx="117921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configurées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523875" y="3200400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Seuils critiques et notifications automatiques.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381000" y="3556546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395288" y="3556546"/>
            <a:ext cx="0" cy="565696"/>
          </a:xfrm>
          <a:prstGeom prst="line">
            <a:avLst/>
          </a:prstGeom>
          <a:noFill/>
          <a:ln w="28575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766465" y="3672780"/>
            <a:ext cx="85648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et traces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523875" y="3861346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détaillé des opérations.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381000" y="4217491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395288" y="4217491"/>
            <a:ext cx="0" cy="565696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766465" y="4333726"/>
            <a:ext cx="110923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Capacité stockage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523875" y="4522291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Utilisation et tendances de croissance.</a:t>
            </a:r>
            <a:endParaRPr lang="en-US" sz="825" dirty="0"/>
          </a:p>
        </p:txBody>
      </p:sp>
      <p:pic>
        <p:nvPicPr>
          <p:cNvPr id="28" name="Image 1" descr="/home/claude/datalake-pptx/image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05250" y="1026319"/>
            <a:ext cx="4857750" cy="36433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262CD-04B6-E2DE-F53D-BAB78A40E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973d6ee.png">
            <a:extLst>
              <a:ext uri="{FF2B5EF4-FFF2-40B4-BE49-F238E27FC236}">
                <a16:creationId xmlns:a16="http://schemas.microsoft.com/office/drawing/2014/main" id="{CA29F91F-52AE-8068-6FFD-338A48D13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C4C5C3A-76DE-1252-E216-5A6E63815A9C}"/>
              </a:ext>
            </a:extLst>
          </p:cNvPr>
          <p:cNvSpPr/>
          <p:nvPr/>
        </p:nvSpPr>
        <p:spPr>
          <a:xfrm>
            <a:off x="381000" y="228600"/>
            <a:ext cx="48029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– EXPLORER HDFS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9279869-0651-70E8-9247-791E57C6983D}"/>
              </a:ext>
            </a:extLst>
          </p:cNvPr>
          <p:cNvSpPr/>
          <p:nvPr/>
        </p:nvSpPr>
        <p:spPr>
          <a:xfrm>
            <a:off x="5524500" y="912763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93EE174-7557-9A0D-6A66-4FD3B2781F8C}"/>
              </a:ext>
            </a:extLst>
          </p:cNvPr>
          <p:cNvSpPr/>
          <p:nvPr/>
        </p:nvSpPr>
        <p:spPr>
          <a:xfrm>
            <a:off x="5538788" y="912763"/>
            <a:ext cx="0" cy="565696"/>
          </a:xfrm>
          <a:prstGeom prst="line">
            <a:avLst/>
          </a:prstGeom>
          <a:noFill/>
          <a:ln w="28575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D9D8F0B-E97A-FB44-43EE-B0F9C83490CC}"/>
              </a:ext>
            </a:extLst>
          </p:cNvPr>
          <p:cNvSpPr/>
          <p:nvPr/>
        </p:nvSpPr>
        <p:spPr>
          <a:xfrm>
            <a:off x="5909965" y="1028998"/>
            <a:ext cx="170537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utilisateurs &amp; RBAC</a:t>
            </a:r>
            <a:endParaRPr lang="en-US" sz="975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B69B557-549D-BD1B-764B-2466441DEFB2}"/>
              </a:ext>
            </a:extLst>
          </p:cNvPr>
          <p:cNvSpPr/>
          <p:nvPr/>
        </p:nvSpPr>
        <p:spPr>
          <a:xfrm>
            <a:off x="5667375" y="1217563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accès basé sur les rôles.</a:t>
            </a:r>
            <a:endParaRPr lang="en-US" sz="825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C05BB85-B8AF-AE83-52F2-204C26720894}"/>
              </a:ext>
            </a:extLst>
          </p:cNvPr>
          <p:cNvSpPr/>
          <p:nvPr/>
        </p:nvSpPr>
        <p:spPr>
          <a:xfrm>
            <a:off x="5524500" y="1573709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AB423B4-0687-02CA-E691-CFA03A427FC2}"/>
              </a:ext>
            </a:extLst>
          </p:cNvPr>
          <p:cNvSpPr/>
          <p:nvPr/>
        </p:nvSpPr>
        <p:spPr>
          <a:xfrm>
            <a:off x="5538788" y="1573709"/>
            <a:ext cx="0" cy="565696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16CC3C5-611A-DDF0-13E4-F1F370141CD9}"/>
              </a:ext>
            </a:extLst>
          </p:cNvPr>
          <p:cNvSpPr/>
          <p:nvPr/>
        </p:nvSpPr>
        <p:spPr>
          <a:xfrm>
            <a:off x="5909965" y="1689943"/>
            <a:ext cx="134741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sources</a:t>
            </a:r>
            <a:endParaRPr lang="en-US" sz="975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D51FF74-C848-C161-1737-C680D24E5340}"/>
              </a:ext>
            </a:extLst>
          </p:cNvPr>
          <p:cNvSpPr/>
          <p:nvPr/>
        </p:nvSpPr>
        <p:spPr>
          <a:xfrm>
            <a:off x="5667375" y="1878509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Paramétrage des connecteurs de données.</a:t>
            </a:r>
            <a:endParaRPr lang="en-US" sz="825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F23A340-A0FE-260A-2AA1-C08DBAC025E8}"/>
              </a:ext>
            </a:extLst>
          </p:cNvPr>
          <p:cNvSpPr/>
          <p:nvPr/>
        </p:nvSpPr>
        <p:spPr>
          <a:xfrm>
            <a:off x="5524500" y="2234654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03F6032-6687-A782-14AC-89C82285795E}"/>
              </a:ext>
            </a:extLst>
          </p:cNvPr>
          <p:cNvSpPr/>
          <p:nvPr/>
        </p:nvSpPr>
        <p:spPr>
          <a:xfrm>
            <a:off x="5538788" y="2234654"/>
            <a:ext cx="0" cy="565696"/>
          </a:xfrm>
          <a:prstGeom prst="line">
            <a:avLst/>
          </a:prstGeom>
          <a:noFill/>
          <a:ln w="28575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373D82A-4DE6-D248-B42E-8AC5808CA654}"/>
              </a:ext>
            </a:extLst>
          </p:cNvPr>
          <p:cNvSpPr/>
          <p:nvPr/>
        </p:nvSpPr>
        <p:spPr>
          <a:xfrm>
            <a:off x="5909965" y="2350889"/>
            <a:ext cx="130552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Politiques de sécurité</a:t>
            </a:r>
            <a:endParaRPr lang="en-US" sz="975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946A3F9-3A41-3041-EA23-2059ABE3FDC2}"/>
              </a:ext>
            </a:extLst>
          </p:cNvPr>
          <p:cNvSpPr/>
          <p:nvPr/>
        </p:nvSpPr>
        <p:spPr>
          <a:xfrm>
            <a:off x="5667375" y="2539454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Définition des règles de protection.</a:t>
            </a:r>
            <a:endParaRPr lang="en-US" sz="825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012484B-D176-DA6D-477B-C3149507749F}"/>
              </a:ext>
            </a:extLst>
          </p:cNvPr>
          <p:cNvSpPr/>
          <p:nvPr/>
        </p:nvSpPr>
        <p:spPr>
          <a:xfrm>
            <a:off x="5524500" y="2895600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9E4E4E3-2825-B3BB-39C3-91AF8541380D}"/>
              </a:ext>
            </a:extLst>
          </p:cNvPr>
          <p:cNvSpPr/>
          <p:nvPr/>
        </p:nvSpPr>
        <p:spPr>
          <a:xfrm>
            <a:off x="5538788" y="2895600"/>
            <a:ext cx="0" cy="565696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95BF5C1-0FC7-3B42-682A-5CF0755AEC66}"/>
              </a:ext>
            </a:extLst>
          </p:cNvPr>
          <p:cNvSpPr/>
          <p:nvPr/>
        </p:nvSpPr>
        <p:spPr>
          <a:xfrm>
            <a:off x="5909965" y="3011835"/>
            <a:ext cx="108084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traçabilité</a:t>
            </a:r>
            <a:endParaRPr lang="en-US" sz="975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C248D75-12D5-108B-0745-176A603B206D}"/>
              </a:ext>
            </a:extLst>
          </p:cNvPr>
          <p:cNvSpPr/>
          <p:nvPr/>
        </p:nvSpPr>
        <p:spPr>
          <a:xfrm>
            <a:off x="5667375" y="3200400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des accès et des actions.</a:t>
            </a:r>
            <a:endParaRPr lang="en-US" sz="825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7A2543A6-20D8-DED7-926F-6853B4A8D027}"/>
              </a:ext>
            </a:extLst>
          </p:cNvPr>
          <p:cNvSpPr/>
          <p:nvPr/>
        </p:nvSpPr>
        <p:spPr>
          <a:xfrm>
            <a:off x="5524500" y="3556546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079633B5-2114-601A-829F-E3E5F542662A}"/>
              </a:ext>
            </a:extLst>
          </p:cNvPr>
          <p:cNvSpPr/>
          <p:nvPr/>
        </p:nvSpPr>
        <p:spPr>
          <a:xfrm>
            <a:off x="5538788" y="3556546"/>
            <a:ext cx="0" cy="565696"/>
          </a:xfrm>
          <a:prstGeom prst="line">
            <a:avLst/>
          </a:prstGeom>
          <a:noFill/>
          <a:ln w="28575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4A8B0EC1-FCF1-C476-C9A9-35452EA586F7}"/>
              </a:ext>
            </a:extLst>
          </p:cNvPr>
          <p:cNvSpPr/>
          <p:nvPr/>
        </p:nvSpPr>
        <p:spPr>
          <a:xfrm>
            <a:off x="5909965" y="3672780"/>
            <a:ext cx="153019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Catalogage métadonnées</a:t>
            </a:r>
            <a:endParaRPr lang="en-US" sz="975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A23CAB8A-4554-44CD-5985-BA093F284AF9}"/>
              </a:ext>
            </a:extLst>
          </p:cNvPr>
          <p:cNvSpPr/>
          <p:nvPr/>
        </p:nvSpPr>
        <p:spPr>
          <a:xfrm>
            <a:off x="5667375" y="3861346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et gouvernance des données.</a:t>
            </a:r>
            <a:endParaRPr lang="en-US" sz="825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80492301-B1DA-5C36-B6B7-2EE8517686E7}"/>
              </a:ext>
            </a:extLst>
          </p:cNvPr>
          <p:cNvSpPr/>
          <p:nvPr/>
        </p:nvSpPr>
        <p:spPr>
          <a:xfrm>
            <a:off x="5524500" y="4217491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5D08FF2A-F953-DB01-2221-A2F0C5E35762}"/>
              </a:ext>
            </a:extLst>
          </p:cNvPr>
          <p:cNvSpPr/>
          <p:nvPr/>
        </p:nvSpPr>
        <p:spPr>
          <a:xfrm>
            <a:off x="5538788" y="4217491"/>
            <a:ext cx="0" cy="565696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823FF13C-BD14-BC1C-0D91-EF8B2267B489}"/>
              </a:ext>
            </a:extLst>
          </p:cNvPr>
          <p:cNvSpPr/>
          <p:nvPr/>
        </p:nvSpPr>
        <p:spPr>
          <a:xfrm>
            <a:off x="5909965" y="4333726"/>
            <a:ext cx="109253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ETL/ELT</a:t>
            </a:r>
            <a:endParaRPr lang="en-US" sz="975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33E689C1-3BE2-67B9-1F16-5B9A994B02AF}"/>
              </a:ext>
            </a:extLst>
          </p:cNvPr>
          <p:cNvSpPr/>
          <p:nvPr/>
        </p:nvSpPr>
        <p:spPr>
          <a:xfrm>
            <a:off x="5667375" y="4522291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des flux de transformation.</a:t>
            </a:r>
            <a:endParaRPr lang="en-US" sz="825" dirty="0"/>
          </a:p>
        </p:txBody>
      </p:sp>
      <p:pic>
        <p:nvPicPr>
          <p:cNvPr id="29" name="Image 28" descr="Une image contenant texte, capture d’écran, Police, logiciel&#10;&#10;Le contenu généré par l’IA peut être incorrect.">
            <a:extLst>
              <a:ext uri="{FF2B5EF4-FFF2-40B4-BE49-F238E27FC236}">
                <a16:creationId xmlns:a16="http://schemas.microsoft.com/office/drawing/2014/main" id="{D82C3A49-9C30-AA3C-68B9-5CFA51745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45" y="912763"/>
            <a:ext cx="5246669" cy="387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41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7cce2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– Analytics NOAA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524500" y="912763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538788" y="912763"/>
            <a:ext cx="0" cy="565696"/>
          </a:xfrm>
          <a:prstGeom prst="line">
            <a:avLst/>
          </a:prstGeom>
          <a:noFill/>
          <a:ln w="28575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909965" y="1028998"/>
            <a:ext cx="144381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 interactive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5667375" y="1217563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Graphiques et tableaux de bord dynamiques.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5524500" y="1573709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538788" y="1573709"/>
            <a:ext cx="0" cy="565696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909965" y="1689943"/>
            <a:ext cx="111622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Calculs temps réel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5667375" y="1878509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Agrégations et métriques instantanées.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524500" y="2234654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5538788" y="2234654"/>
            <a:ext cx="0" cy="565696"/>
          </a:xfrm>
          <a:prstGeom prst="line">
            <a:avLst/>
          </a:prstGeom>
          <a:noFill/>
          <a:ln w="28575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909965" y="2350889"/>
            <a:ext cx="115128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statistique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5667375" y="2539454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Corrélations et tendances avancées.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524500" y="2895600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5538788" y="2895600"/>
            <a:ext cx="0" cy="565696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909965" y="3011835"/>
            <a:ext cx="117193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multi-format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5667375" y="3200400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Excel, CSV disponibles.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5524500" y="3556546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5538788" y="3556546"/>
            <a:ext cx="0" cy="565696"/>
          </a:xfrm>
          <a:prstGeom prst="line">
            <a:avLst/>
          </a:prstGeom>
          <a:noFill/>
          <a:ln w="28575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5909965" y="3672780"/>
            <a:ext cx="141770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Partage &amp; collaboration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5667375" y="3861346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des analyses en équipe.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5524500" y="4217491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5538788" y="4217491"/>
            <a:ext cx="0" cy="565696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5909965" y="4333726"/>
            <a:ext cx="118620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requêtes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5667375" y="4522291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Sauvegarde et replay des analyses.</a:t>
            </a:r>
            <a:endParaRPr lang="en-US" sz="825" dirty="0"/>
          </a:p>
        </p:txBody>
      </p:sp>
      <p:pic>
        <p:nvPicPr>
          <p:cNvPr id="28" name="Image 1" descr="/home/claude/datalake-pptx/image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1026319"/>
            <a:ext cx="4857750" cy="36433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D666EC-C94B-EFE3-995A-48C5C7852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7cce228.png">
            <a:extLst>
              <a:ext uri="{FF2B5EF4-FFF2-40B4-BE49-F238E27FC236}">
                <a16:creationId xmlns:a16="http://schemas.microsoft.com/office/drawing/2014/main" id="{F83C9EBB-0D57-0D5E-A778-C92B1ED62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93BB378-0A31-95D7-82EB-638DAEA5638E}"/>
              </a:ext>
            </a:extLst>
          </p:cNvPr>
          <p:cNvSpPr/>
          <p:nvPr/>
        </p:nvSpPr>
        <p:spPr>
          <a:xfrm>
            <a:off x="38100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– Analytics USGS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CB9A46D-338A-7ED1-6694-77B06578AED1}"/>
              </a:ext>
            </a:extLst>
          </p:cNvPr>
          <p:cNvSpPr/>
          <p:nvPr/>
        </p:nvSpPr>
        <p:spPr>
          <a:xfrm>
            <a:off x="5524500" y="912763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076D7C4-6B85-B1AB-A6E3-E245361C5E29}"/>
              </a:ext>
            </a:extLst>
          </p:cNvPr>
          <p:cNvSpPr/>
          <p:nvPr/>
        </p:nvSpPr>
        <p:spPr>
          <a:xfrm>
            <a:off x="5538788" y="912763"/>
            <a:ext cx="0" cy="565696"/>
          </a:xfrm>
          <a:prstGeom prst="line">
            <a:avLst/>
          </a:prstGeom>
          <a:noFill/>
          <a:ln w="28575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47CF37B-AD66-968B-E49E-DF515307AE9E}"/>
              </a:ext>
            </a:extLst>
          </p:cNvPr>
          <p:cNvSpPr/>
          <p:nvPr/>
        </p:nvSpPr>
        <p:spPr>
          <a:xfrm>
            <a:off x="5909965" y="1028998"/>
            <a:ext cx="144381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 interactive</a:t>
            </a:r>
            <a:endParaRPr lang="en-US" sz="975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B907BEA-4DD6-F0AC-309F-03FB52488D54}"/>
              </a:ext>
            </a:extLst>
          </p:cNvPr>
          <p:cNvSpPr/>
          <p:nvPr/>
        </p:nvSpPr>
        <p:spPr>
          <a:xfrm>
            <a:off x="5667375" y="1217563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Graphiques et tableaux de bord dynamiques.</a:t>
            </a:r>
            <a:endParaRPr lang="en-US" sz="825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A30934F-F657-A301-28D6-D79D7212B90A}"/>
              </a:ext>
            </a:extLst>
          </p:cNvPr>
          <p:cNvSpPr/>
          <p:nvPr/>
        </p:nvSpPr>
        <p:spPr>
          <a:xfrm>
            <a:off x="5524500" y="1573709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6418801-D029-22D9-4DBB-50B28425F0AB}"/>
              </a:ext>
            </a:extLst>
          </p:cNvPr>
          <p:cNvSpPr/>
          <p:nvPr/>
        </p:nvSpPr>
        <p:spPr>
          <a:xfrm>
            <a:off x="5538788" y="1573709"/>
            <a:ext cx="0" cy="565696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E9D9B44-20AF-0C8A-9913-EE399CA4426A}"/>
              </a:ext>
            </a:extLst>
          </p:cNvPr>
          <p:cNvSpPr/>
          <p:nvPr/>
        </p:nvSpPr>
        <p:spPr>
          <a:xfrm>
            <a:off x="5909965" y="1689943"/>
            <a:ext cx="111622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Calculs temps réel</a:t>
            </a:r>
            <a:endParaRPr lang="en-US" sz="975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5736C06-C75B-C4DD-1014-0AF3AAE2DA23}"/>
              </a:ext>
            </a:extLst>
          </p:cNvPr>
          <p:cNvSpPr/>
          <p:nvPr/>
        </p:nvSpPr>
        <p:spPr>
          <a:xfrm>
            <a:off x="5667375" y="1878509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Agrégations et métriques instantanées.</a:t>
            </a:r>
            <a:endParaRPr lang="en-US" sz="825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9DFA41E-4B35-5EB3-4772-67C1744FC904}"/>
              </a:ext>
            </a:extLst>
          </p:cNvPr>
          <p:cNvSpPr/>
          <p:nvPr/>
        </p:nvSpPr>
        <p:spPr>
          <a:xfrm>
            <a:off x="5524500" y="2234654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4BC4CE24-A803-377D-7E07-A2D00DBC8D1D}"/>
              </a:ext>
            </a:extLst>
          </p:cNvPr>
          <p:cNvSpPr/>
          <p:nvPr/>
        </p:nvSpPr>
        <p:spPr>
          <a:xfrm>
            <a:off x="5538788" y="2234654"/>
            <a:ext cx="0" cy="565696"/>
          </a:xfrm>
          <a:prstGeom prst="line">
            <a:avLst/>
          </a:prstGeom>
          <a:noFill/>
          <a:ln w="28575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752F8DD-4F3E-DD76-D3FF-DBA151608AD6}"/>
              </a:ext>
            </a:extLst>
          </p:cNvPr>
          <p:cNvSpPr/>
          <p:nvPr/>
        </p:nvSpPr>
        <p:spPr>
          <a:xfrm>
            <a:off x="5909965" y="2350889"/>
            <a:ext cx="115128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statistique</a:t>
            </a:r>
            <a:endParaRPr lang="en-US" sz="975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0DA4D46-167E-54F9-9DD8-061F35647619}"/>
              </a:ext>
            </a:extLst>
          </p:cNvPr>
          <p:cNvSpPr/>
          <p:nvPr/>
        </p:nvSpPr>
        <p:spPr>
          <a:xfrm>
            <a:off x="5667375" y="2539454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Corrélations et tendances avancées.</a:t>
            </a:r>
            <a:endParaRPr lang="en-US" sz="825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ED52710-A86F-4D3C-7E8B-AF2D18CE3532}"/>
              </a:ext>
            </a:extLst>
          </p:cNvPr>
          <p:cNvSpPr/>
          <p:nvPr/>
        </p:nvSpPr>
        <p:spPr>
          <a:xfrm>
            <a:off x="5524500" y="2895600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E0112D55-9428-B284-4EC8-5A0A17C93629}"/>
              </a:ext>
            </a:extLst>
          </p:cNvPr>
          <p:cNvSpPr/>
          <p:nvPr/>
        </p:nvSpPr>
        <p:spPr>
          <a:xfrm>
            <a:off x="5538788" y="2895600"/>
            <a:ext cx="0" cy="565696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790EBF5-2481-6B5B-9029-90D471D3F423}"/>
              </a:ext>
            </a:extLst>
          </p:cNvPr>
          <p:cNvSpPr/>
          <p:nvPr/>
        </p:nvSpPr>
        <p:spPr>
          <a:xfrm>
            <a:off x="5909965" y="3011835"/>
            <a:ext cx="117193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multi-format</a:t>
            </a:r>
            <a:endParaRPr lang="en-US" sz="975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D04BB04-134A-4429-E117-93AF2155F70E}"/>
              </a:ext>
            </a:extLst>
          </p:cNvPr>
          <p:cNvSpPr/>
          <p:nvPr/>
        </p:nvSpPr>
        <p:spPr>
          <a:xfrm>
            <a:off x="5667375" y="3200400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Excel, CSV disponibles.</a:t>
            </a:r>
            <a:endParaRPr lang="en-US" sz="825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34081ED-B16A-9D67-25EA-289E49DA6C47}"/>
              </a:ext>
            </a:extLst>
          </p:cNvPr>
          <p:cNvSpPr/>
          <p:nvPr/>
        </p:nvSpPr>
        <p:spPr>
          <a:xfrm>
            <a:off x="5524500" y="3556546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36A9C80-200F-C072-4773-45C9B4023CD6}"/>
              </a:ext>
            </a:extLst>
          </p:cNvPr>
          <p:cNvSpPr/>
          <p:nvPr/>
        </p:nvSpPr>
        <p:spPr>
          <a:xfrm>
            <a:off x="5538788" y="3556546"/>
            <a:ext cx="0" cy="565696"/>
          </a:xfrm>
          <a:prstGeom prst="line">
            <a:avLst/>
          </a:prstGeom>
          <a:noFill/>
          <a:ln w="28575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961866B1-3E0E-1FA0-CD92-526BBA6A002E}"/>
              </a:ext>
            </a:extLst>
          </p:cNvPr>
          <p:cNvSpPr/>
          <p:nvPr/>
        </p:nvSpPr>
        <p:spPr>
          <a:xfrm>
            <a:off x="5909965" y="3672780"/>
            <a:ext cx="141770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Partage &amp; collaboration</a:t>
            </a:r>
            <a:endParaRPr lang="en-US" sz="975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4C8FC5C2-F1C2-EA32-D7FB-2C0380D1719D}"/>
              </a:ext>
            </a:extLst>
          </p:cNvPr>
          <p:cNvSpPr/>
          <p:nvPr/>
        </p:nvSpPr>
        <p:spPr>
          <a:xfrm>
            <a:off x="5667375" y="3861346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des analyses en équipe.</a:t>
            </a:r>
            <a:endParaRPr lang="en-US" sz="825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0318D214-605F-2C6A-6864-5CAC78F2F40B}"/>
              </a:ext>
            </a:extLst>
          </p:cNvPr>
          <p:cNvSpPr/>
          <p:nvPr/>
        </p:nvSpPr>
        <p:spPr>
          <a:xfrm>
            <a:off x="5524500" y="4217491"/>
            <a:ext cx="3238500" cy="565696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ADC3BC71-F742-1EF8-E782-92E95654F882}"/>
              </a:ext>
            </a:extLst>
          </p:cNvPr>
          <p:cNvSpPr/>
          <p:nvPr/>
        </p:nvSpPr>
        <p:spPr>
          <a:xfrm>
            <a:off x="5538788" y="4217491"/>
            <a:ext cx="0" cy="565696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6A85332F-791C-B276-ECAB-20E8F22E78D8}"/>
              </a:ext>
            </a:extLst>
          </p:cNvPr>
          <p:cNvSpPr/>
          <p:nvPr/>
        </p:nvSpPr>
        <p:spPr>
          <a:xfrm>
            <a:off x="5909965" y="4333726"/>
            <a:ext cx="118620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requêtes</a:t>
            </a:r>
            <a:endParaRPr lang="en-US" sz="975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B8CCA811-E1C3-61AC-5EAE-4DD030CFD286}"/>
              </a:ext>
            </a:extLst>
          </p:cNvPr>
          <p:cNvSpPr/>
          <p:nvPr/>
        </p:nvSpPr>
        <p:spPr>
          <a:xfrm>
            <a:off x="5667375" y="4522291"/>
            <a:ext cx="3040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Sauvegarde et replay des analyses.</a:t>
            </a:r>
            <a:endParaRPr lang="en-US" sz="825" dirty="0"/>
          </a:p>
        </p:txBody>
      </p:sp>
      <p:pic>
        <p:nvPicPr>
          <p:cNvPr id="29" name="Image 28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2712F3ED-A011-AA65-D7B5-29ADB6290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455" y="1028998"/>
            <a:ext cx="5090458" cy="31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053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430ce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et bénéfices</a:t>
            </a:r>
            <a:endParaRPr lang="en-US" sz="2700" dirty="0"/>
          </a:p>
        </p:txBody>
      </p:sp>
      <p:pic>
        <p:nvPicPr>
          <p:cNvPr id="4" name="Image 1" descr="/tmp/rasterized-gradient-458193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415653"/>
            <a:ext cx="2654350" cy="29406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2054" y="1648123"/>
            <a:ext cx="101921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71500" y="2177653"/>
            <a:ext cx="2273350" cy="586532"/>
          </a:xfrm>
          <a:prstGeom prst="roundRect">
            <a:avLst>
              <a:gd name="adj" fmla="val 974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685800" y="2291953"/>
            <a:ext cx="20856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Réduction des silos</a:t>
            </a:r>
            <a:endParaRPr lang="en-US" sz="975" dirty="0"/>
          </a:p>
        </p:txBody>
      </p:sp>
      <p:sp>
        <p:nvSpPr>
          <p:cNvPr id="8" name="Text 4"/>
          <p:cNvSpPr/>
          <p:nvPr/>
        </p:nvSpPr>
        <p:spPr>
          <a:xfrm>
            <a:off x="685800" y="2503289"/>
            <a:ext cx="20856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centralisées et accessibles</a:t>
            </a:r>
            <a:endParaRPr lang="en-US" sz="825" dirty="0"/>
          </a:p>
        </p:txBody>
      </p:sp>
      <p:sp>
        <p:nvSpPr>
          <p:cNvPr id="9" name="Text 5"/>
          <p:cNvSpPr/>
          <p:nvPr/>
        </p:nvSpPr>
        <p:spPr>
          <a:xfrm>
            <a:off x="571500" y="2878485"/>
            <a:ext cx="2273350" cy="586532"/>
          </a:xfrm>
          <a:prstGeom prst="roundRect">
            <a:avLst>
              <a:gd name="adj" fmla="val 974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85800" y="2992785"/>
            <a:ext cx="20856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Qualité améliorée</a:t>
            </a:r>
            <a:endParaRPr lang="en-US" sz="975" dirty="0"/>
          </a:p>
        </p:txBody>
      </p:sp>
      <p:sp>
        <p:nvSpPr>
          <p:cNvPr id="11" name="Text 7"/>
          <p:cNvSpPr/>
          <p:nvPr/>
        </p:nvSpPr>
        <p:spPr>
          <a:xfrm>
            <a:off x="685800" y="3204121"/>
            <a:ext cx="20856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fiables et cohérentes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571500" y="3579316"/>
            <a:ext cx="2273350" cy="586532"/>
          </a:xfrm>
          <a:prstGeom prst="roundRect">
            <a:avLst>
              <a:gd name="adj" fmla="val 974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85800" y="3693616"/>
            <a:ext cx="20856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Scalabilité prouvée</a:t>
            </a:r>
            <a:endParaRPr lang="en-US" sz="975" dirty="0"/>
          </a:p>
        </p:txBody>
      </p:sp>
      <p:sp>
        <p:nvSpPr>
          <p:cNvPr id="14" name="Text 10"/>
          <p:cNvSpPr/>
          <p:nvPr/>
        </p:nvSpPr>
        <p:spPr>
          <a:xfrm>
            <a:off x="685800" y="3904952"/>
            <a:ext cx="20856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évolutive</a:t>
            </a:r>
            <a:endParaRPr lang="en-US" sz="825" dirty="0"/>
          </a:p>
        </p:txBody>
      </p:sp>
      <p:sp>
        <p:nvSpPr>
          <p:cNvPr id="28" name="Text 23"/>
          <p:cNvSpPr/>
          <p:nvPr/>
        </p:nvSpPr>
        <p:spPr>
          <a:xfrm>
            <a:off x="6280249" y="2131070"/>
            <a:ext cx="2273350" cy="679847"/>
          </a:xfrm>
          <a:prstGeom prst="roundRect">
            <a:avLst>
              <a:gd name="adj" fmla="val 84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6280249" y="2925217"/>
            <a:ext cx="2273350" cy="586532"/>
          </a:xfrm>
          <a:prstGeom prst="roundRect">
            <a:avLst>
              <a:gd name="adj" fmla="val 974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2" descr="/tmp/rasterized-gradient-8ef104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0729" y="1417855"/>
            <a:ext cx="2654350" cy="2940695"/>
          </a:xfrm>
          <a:prstGeom prst="rect">
            <a:avLst/>
          </a:prstGeom>
        </p:spPr>
      </p:pic>
      <p:sp>
        <p:nvSpPr>
          <p:cNvPr id="41" name="Text 11"/>
          <p:cNvSpPr/>
          <p:nvPr/>
        </p:nvSpPr>
        <p:spPr>
          <a:xfrm>
            <a:off x="5456889" y="1619987"/>
            <a:ext cx="69101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MÉTIERS</a:t>
            </a:r>
            <a:endParaRPr lang="en-US" sz="1200" dirty="0"/>
          </a:p>
        </p:txBody>
      </p:sp>
      <p:sp>
        <p:nvSpPr>
          <p:cNvPr id="42" name="Text 12"/>
          <p:cNvSpPr/>
          <p:nvPr/>
        </p:nvSpPr>
        <p:spPr>
          <a:xfrm>
            <a:off x="5076336" y="2149517"/>
            <a:ext cx="2273350" cy="586532"/>
          </a:xfrm>
          <a:prstGeom prst="roundRect">
            <a:avLst>
              <a:gd name="adj" fmla="val 9744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13"/>
          <p:cNvSpPr/>
          <p:nvPr/>
        </p:nvSpPr>
        <p:spPr>
          <a:xfrm>
            <a:off x="5190636" y="2263817"/>
            <a:ext cx="20856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d'analyse réduit</a:t>
            </a:r>
            <a:endParaRPr lang="en-US" sz="975" dirty="0"/>
          </a:p>
        </p:txBody>
      </p:sp>
      <p:sp>
        <p:nvSpPr>
          <p:cNvPr id="44" name="Text 14"/>
          <p:cNvSpPr/>
          <p:nvPr/>
        </p:nvSpPr>
        <p:spPr>
          <a:xfrm>
            <a:off x="5190636" y="2475153"/>
            <a:ext cx="20856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de 50% sur les analyses</a:t>
            </a:r>
            <a:endParaRPr lang="en-US" sz="825" dirty="0"/>
          </a:p>
        </p:txBody>
      </p:sp>
      <p:sp>
        <p:nvSpPr>
          <p:cNvPr id="45" name="Text 15"/>
          <p:cNvSpPr/>
          <p:nvPr/>
        </p:nvSpPr>
        <p:spPr>
          <a:xfrm>
            <a:off x="5076336" y="2850349"/>
            <a:ext cx="2273350" cy="586532"/>
          </a:xfrm>
          <a:prstGeom prst="roundRect">
            <a:avLst>
              <a:gd name="adj" fmla="val 9744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16"/>
          <p:cNvSpPr/>
          <p:nvPr/>
        </p:nvSpPr>
        <p:spPr>
          <a:xfrm>
            <a:off x="5190636" y="2964649"/>
            <a:ext cx="20856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Décisions data-driven</a:t>
            </a:r>
            <a:endParaRPr lang="en-US" sz="975" dirty="0"/>
          </a:p>
        </p:txBody>
      </p:sp>
      <p:sp>
        <p:nvSpPr>
          <p:cNvPr id="47" name="Text 17"/>
          <p:cNvSpPr/>
          <p:nvPr/>
        </p:nvSpPr>
        <p:spPr>
          <a:xfrm>
            <a:off x="5190636" y="3175985"/>
            <a:ext cx="20856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Basées sur des données fiables</a:t>
            </a:r>
            <a:endParaRPr lang="en-US" sz="825" dirty="0"/>
          </a:p>
        </p:txBody>
      </p:sp>
      <p:sp>
        <p:nvSpPr>
          <p:cNvPr id="48" name="Text 18"/>
          <p:cNvSpPr/>
          <p:nvPr/>
        </p:nvSpPr>
        <p:spPr>
          <a:xfrm>
            <a:off x="5076336" y="3551180"/>
            <a:ext cx="2273350" cy="586532"/>
          </a:xfrm>
          <a:prstGeom prst="roundRect">
            <a:avLst>
              <a:gd name="adj" fmla="val 9744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19"/>
          <p:cNvSpPr/>
          <p:nvPr/>
        </p:nvSpPr>
        <p:spPr>
          <a:xfrm>
            <a:off x="5190636" y="3665480"/>
            <a:ext cx="20856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Nouveaux cas d'usage</a:t>
            </a:r>
            <a:endParaRPr lang="en-US" sz="975" dirty="0"/>
          </a:p>
        </p:txBody>
      </p:sp>
      <p:sp>
        <p:nvSpPr>
          <p:cNvPr id="50" name="Text 20"/>
          <p:cNvSpPr/>
          <p:nvPr/>
        </p:nvSpPr>
        <p:spPr>
          <a:xfrm>
            <a:off x="5190636" y="3876816"/>
            <a:ext cx="20856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et analytics avancés activés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38010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28600"/>
            <a:ext cx="51783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et prochaines étapes</a:t>
            </a:r>
            <a:endParaRPr lang="en-US" sz="2700" dirty="0"/>
          </a:p>
        </p:txBody>
      </p:sp>
      <p:pic>
        <p:nvPicPr>
          <p:cNvPr id="4" name="Image 1" descr="/tmp/rasterized-gradient-871260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238250"/>
            <a:ext cx="8382000" cy="38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19200" y="116205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D3B66"/>
          </a:solidFill>
          <a:ln w="28575">
            <a:solidFill>
              <a:srgbClr val="FFFFFF"/>
            </a:solidFill>
          </a:ln>
          <a:effectLst>
            <a:outerShdw blurRad="38100" dist="1905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2895600" y="116205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1A5490"/>
          </a:solidFill>
          <a:ln w="28575">
            <a:solidFill>
              <a:srgbClr val="FFFFFF"/>
            </a:solidFill>
          </a:ln>
          <a:effectLst>
            <a:outerShdw blurRad="38100" dist="1905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572000" y="116205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B4D8"/>
          </a:solidFill>
          <a:ln w="28575">
            <a:solidFill>
              <a:srgbClr val="FFFFFF"/>
            </a:solidFill>
          </a:ln>
          <a:effectLst>
            <a:outerShdw blurRad="38100" dist="1905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248400" y="116205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96C7"/>
          </a:solidFill>
          <a:ln w="28575">
            <a:solidFill>
              <a:srgbClr val="FFFFFF"/>
            </a:solidFill>
          </a:ln>
          <a:effectLst>
            <a:outerShdw blurRad="38100" dist="1905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924800" y="116205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D3B66"/>
          </a:solidFill>
          <a:ln w="28575">
            <a:solidFill>
              <a:srgbClr val="FFFFFF"/>
            </a:solidFill>
          </a:ln>
          <a:effectLst>
            <a:outerShdw blurRad="38100" dist="1905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81000" y="2549872"/>
            <a:ext cx="1554510" cy="1510605"/>
          </a:xfrm>
          <a:prstGeom prst="roundRect">
            <a:avLst>
              <a:gd name="adj" fmla="val 504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381000" y="2568922"/>
            <a:ext cx="1554510" cy="0"/>
          </a:xfrm>
          <a:prstGeom prst="line">
            <a:avLst/>
          </a:prstGeom>
          <a:noFill/>
          <a:ln w="381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8"/>
          <p:cNvSpPr/>
          <p:nvPr/>
        </p:nvSpPr>
        <p:spPr>
          <a:xfrm>
            <a:off x="533400" y="3235672"/>
            <a:ext cx="127470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Nouvelles sources</a:t>
            </a:r>
            <a:endParaRPr lang="en-US" sz="975" dirty="0"/>
          </a:p>
        </p:txBody>
      </p:sp>
      <p:sp>
        <p:nvSpPr>
          <p:cNvPr id="13" name="Text 9"/>
          <p:cNvSpPr/>
          <p:nvPr/>
        </p:nvSpPr>
        <p:spPr>
          <a:xfrm>
            <a:off x="533400" y="3593753"/>
            <a:ext cx="127470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de sources de données additionnelles</a:t>
            </a:r>
            <a:endParaRPr lang="en-US" sz="825" dirty="0"/>
          </a:p>
        </p:txBody>
      </p:sp>
      <p:sp>
        <p:nvSpPr>
          <p:cNvPr id="14" name="Text 10"/>
          <p:cNvSpPr/>
          <p:nvPr/>
        </p:nvSpPr>
        <p:spPr>
          <a:xfrm>
            <a:off x="2087910" y="2471291"/>
            <a:ext cx="1554510" cy="1667768"/>
          </a:xfrm>
          <a:prstGeom prst="roundRect">
            <a:avLst>
              <a:gd name="adj" fmla="val 490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2087910" y="2490341"/>
            <a:ext cx="1554510" cy="0"/>
          </a:xfrm>
          <a:prstGeom prst="line">
            <a:avLst/>
          </a:prstGeom>
          <a:noFill/>
          <a:ln w="38100">
            <a:solidFill>
              <a:srgbClr val="1A54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2240310" y="3157091"/>
            <a:ext cx="127470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 ML</a:t>
            </a:r>
            <a:endParaRPr lang="en-US" sz="975" dirty="0"/>
          </a:p>
        </p:txBody>
      </p:sp>
      <p:sp>
        <p:nvSpPr>
          <p:cNvPr id="17" name="Text 13"/>
          <p:cNvSpPr/>
          <p:nvPr/>
        </p:nvSpPr>
        <p:spPr>
          <a:xfrm>
            <a:off x="2240310" y="3515171"/>
            <a:ext cx="127470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Implémentation d'algorithmes de Machine Learning avancés</a:t>
            </a:r>
            <a:endParaRPr lang="en-US" sz="825" dirty="0"/>
          </a:p>
        </p:txBody>
      </p:sp>
      <p:sp>
        <p:nvSpPr>
          <p:cNvPr id="18" name="Text 14"/>
          <p:cNvSpPr/>
          <p:nvPr/>
        </p:nvSpPr>
        <p:spPr>
          <a:xfrm>
            <a:off x="3794820" y="2549872"/>
            <a:ext cx="1554510" cy="1510605"/>
          </a:xfrm>
          <a:prstGeom prst="roundRect">
            <a:avLst>
              <a:gd name="adj" fmla="val 504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3794820" y="2568922"/>
            <a:ext cx="155451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/>
          <p:nvPr/>
        </p:nvSpPr>
        <p:spPr>
          <a:xfrm>
            <a:off x="3947220" y="3235672"/>
            <a:ext cx="127470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975" dirty="0"/>
          </a:p>
        </p:txBody>
      </p:sp>
      <p:sp>
        <p:nvSpPr>
          <p:cNvPr id="21" name="Text 17"/>
          <p:cNvSpPr/>
          <p:nvPr/>
        </p:nvSpPr>
        <p:spPr>
          <a:xfrm>
            <a:off x="3947220" y="3593753"/>
            <a:ext cx="127470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des temps de réponse et du débit</a:t>
            </a:r>
            <a:endParaRPr lang="en-US" sz="825" dirty="0"/>
          </a:p>
        </p:txBody>
      </p:sp>
      <p:sp>
        <p:nvSpPr>
          <p:cNvPr id="22" name="Text 18"/>
          <p:cNvSpPr/>
          <p:nvPr/>
        </p:nvSpPr>
        <p:spPr>
          <a:xfrm>
            <a:off x="5501729" y="2471291"/>
            <a:ext cx="1554510" cy="1667768"/>
          </a:xfrm>
          <a:prstGeom prst="roundRect">
            <a:avLst>
              <a:gd name="adj" fmla="val 490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19"/>
          <p:cNvSpPr/>
          <p:nvPr/>
        </p:nvSpPr>
        <p:spPr>
          <a:xfrm>
            <a:off x="5501729" y="2490341"/>
            <a:ext cx="1554510" cy="0"/>
          </a:xfrm>
          <a:prstGeom prst="line">
            <a:avLst/>
          </a:prstGeom>
          <a:noFill/>
          <a:ln w="381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5654129" y="3157091"/>
            <a:ext cx="127470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</a:t>
            </a:r>
            <a:endParaRPr lang="en-US" sz="975" dirty="0"/>
          </a:p>
        </p:txBody>
      </p:sp>
      <p:sp>
        <p:nvSpPr>
          <p:cNvPr id="25" name="Text 21"/>
          <p:cNvSpPr/>
          <p:nvPr/>
        </p:nvSpPr>
        <p:spPr>
          <a:xfrm>
            <a:off x="5654129" y="3515171"/>
            <a:ext cx="127470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des capacités de traitement en temps réel</a:t>
            </a:r>
            <a:endParaRPr lang="en-US" sz="825" dirty="0"/>
          </a:p>
        </p:txBody>
      </p:sp>
      <p:sp>
        <p:nvSpPr>
          <p:cNvPr id="26" name="Text 22"/>
          <p:cNvSpPr/>
          <p:nvPr/>
        </p:nvSpPr>
        <p:spPr>
          <a:xfrm>
            <a:off x="7208639" y="2549872"/>
            <a:ext cx="1554510" cy="1510605"/>
          </a:xfrm>
          <a:prstGeom prst="roundRect">
            <a:avLst>
              <a:gd name="adj" fmla="val 504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3"/>
          <p:cNvSpPr/>
          <p:nvPr/>
        </p:nvSpPr>
        <p:spPr>
          <a:xfrm>
            <a:off x="7208639" y="2568922"/>
            <a:ext cx="1554510" cy="0"/>
          </a:xfrm>
          <a:prstGeom prst="line">
            <a:avLst/>
          </a:prstGeom>
          <a:noFill/>
          <a:ln w="381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4"/>
          <p:cNvSpPr/>
          <p:nvPr/>
        </p:nvSpPr>
        <p:spPr>
          <a:xfrm>
            <a:off x="7361039" y="3235672"/>
            <a:ext cx="127470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</a:t>
            </a:r>
            <a:endParaRPr lang="en-US" sz="975" dirty="0"/>
          </a:p>
        </p:txBody>
      </p:sp>
      <p:sp>
        <p:nvSpPr>
          <p:cNvPr id="29" name="Text 25"/>
          <p:cNvSpPr/>
          <p:nvPr/>
        </p:nvSpPr>
        <p:spPr>
          <a:xfrm>
            <a:off x="7361039" y="3593753"/>
            <a:ext cx="127470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Internationalisation du dashboard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2DDB6A-87A1-1859-6D65-2D556AFC0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79f49a2.png">
            <a:extLst>
              <a:ext uri="{FF2B5EF4-FFF2-40B4-BE49-F238E27FC236}">
                <a16:creationId xmlns:a16="http://schemas.microsoft.com/office/drawing/2014/main" id="{2B1C0BDF-27F2-2DDB-3E97-05647E0CE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D6DFC6F-5F8B-D9EB-1979-F070BAB45CF9}"/>
              </a:ext>
            </a:extLst>
          </p:cNvPr>
          <p:cNvSpPr/>
          <p:nvPr/>
        </p:nvSpPr>
        <p:spPr>
          <a:xfrm>
            <a:off x="1829972" y="313006"/>
            <a:ext cx="595362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</a:t>
            </a:r>
            <a:r>
              <a:rPr lang="en-US" sz="2700" b="1" dirty="0" err="1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</a:t>
            </a:r>
            <a:r>
              <a:rPr lang="en-US" sz="27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700" b="1" dirty="0" err="1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apportee</a:t>
            </a:r>
            <a:r>
              <a:rPr lang="en-US" sz="270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 le Data Lake</a:t>
            </a:r>
            <a:endParaRPr lang="en-US" sz="27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D2FD9C5-B34D-147D-88F0-ED5EFE80E36E}"/>
              </a:ext>
            </a:extLst>
          </p:cNvPr>
          <p:cNvSpPr/>
          <p:nvPr/>
        </p:nvSpPr>
        <p:spPr>
          <a:xfrm>
            <a:off x="381000" y="1876425"/>
            <a:ext cx="4095750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183D074-578F-7E74-AED2-F1B8E14492AC}"/>
              </a:ext>
            </a:extLst>
          </p:cNvPr>
          <p:cNvSpPr/>
          <p:nvPr/>
        </p:nvSpPr>
        <p:spPr>
          <a:xfrm>
            <a:off x="400050" y="1876425"/>
            <a:ext cx="0" cy="93345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340D802-1ADE-7CC8-2F16-217B2CBFB197}"/>
              </a:ext>
            </a:extLst>
          </p:cNvPr>
          <p:cNvSpPr/>
          <p:nvPr/>
        </p:nvSpPr>
        <p:spPr>
          <a:xfrm>
            <a:off x="861715" y="2053530"/>
            <a:ext cx="11839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CENTRALISATION</a:t>
            </a:r>
            <a:endParaRPr lang="en-US" sz="10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1B95FED-2F65-D7B0-C3AC-113DE0EC9727}"/>
              </a:ext>
            </a:extLst>
          </p:cNvPr>
          <p:cNvSpPr/>
          <p:nvPr/>
        </p:nvSpPr>
        <p:spPr>
          <a:xfrm>
            <a:off x="571499" y="2288085"/>
            <a:ext cx="3827907" cy="546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</a:pPr>
            <a:r>
              <a:rPr lang="fr-FR" sz="900" dirty="0">
                <a:latin typeface="Arial" panose="020B0604020202020204" pitchFamily="34" charset="0"/>
                <a:cs typeface="Arial" panose="020B0604020202020204" pitchFamily="34" charset="0"/>
              </a:rPr>
              <a:t>→ Intégration des données NOAA, USGS, CRM, logs, et IoT dans un référentiel unique.</a:t>
            </a:r>
            <a:br>
              <a:rPr lang="fr-FR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900" dirty="0">
                <a:latin typeface="Arial" panose="020B0604020202020204" pitchFamily="34" charset="0"/>
                <a:cs typeface="Arial" panose="020B0604020202020204" pitchFamily="34" charset="0"/>
              </a:rPr>
              <a:t>→ Fin des silos, données cohérentes et accessibles en temps réel.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5AE859C-6693-CBBD-D9E5-DA93426F0FE0}"/>
              </a:ext>
            </a:extLst>
          </p:cNvPr>
          <p:cNvSpPr/>
          <p:nvPr/>
        </p:nvSpPr>
        <p:spPr>
          <a:xfrm>
            <a:off x="381000" y="2962275"/>
            <a:ext cx="4095750" cy="76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AE802E1-C92E-1FD6-C6B8-CFF449C8870B}"/>
              </a:ext>
            </a:extLst>
          </p:cNvPr>
          <p:cNvSpPr/>
          <p:nvPr/>
        </p:nvSpPr>
        <p:spPr>
          <a:xfrm>
            <a:off x="400050" y="2962275"/>
            <a:ext cx="0" cy="762000"/>
          </a:xfrm>
          <a:prstGeom prst="line">
            <a:avLst/>
          </a:prstGeom>
          <a:noFill/>
          <a:ln w="381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E0C8925-AC0B-A8C9-1EB8-C9975C0EDB00}"/>
              </a:ext>
            </a:extLst>
          </p:cNvPr>
          <p:cNvSpPr/>
          <p:nvPr/>
        </p:nvSpPr>
        <p:spPr>
          <a:xfrm>
            <a:off x="861715" y="3069151"/>
            <a:ext cx="1121829" cy="82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10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F164D3E-396F-144C-9701-E0C4A8FFE2E1}"/>
              </a:ext>
            </a:extLst>
          </p:cNvPr>
          <p:cNvSpPr/>
          <p:nvPr/>
        </p:nvSpPr>
        <p:spPr>
          <a:xfrm>
            <a:off x="571500" y="3213645"/>
            <a:ext cx="3827907" cy="567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</a:pPr>
            <a:r>
              <a:rPr lang="fr-FR" sz="900" dirty="0">
                <a:latin typeface="Arial" panose="020B0604020202020204" pitchFamily="34" charset="0"/>
                <a:cs typeface="Arial" panose="020B0604020202020204" pitchFamily="34" charset="0"/>
              </a:rPr>
              <a:t>→ Préparation des données pour modèles prédictifs (ex : prévisions météo, détection d’anomalies).</a:t>
            </a:r>
            <a:br>
              <a:rPr lang="fr-FR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900" dirty="0">
                <a:latin typeface="Arial" panose="020B0604020202020204" pitchFamily="34" charset="0"/>
                <a:cs typeface="Arial" panose="020B0604020202020204" pitchFamily="34" charset="0"/>
              </a:rPr>
              <a:t>→ Traitement streaming pour surveillance continue (flux NOAA/USGS).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5C27D31-C15F-13A3-1223-AB8F6F61989A}"/>
              </a:ext>
            </a:extLst>
          </p:cNvPr>
          <p:cNvSpPr/>
          <p:nvPr/>
        </p:nvSpPr>
        <p:spPr>
          <a:xfrm>
            <a:off x="4667250" y="1962150"/>
            <a:ext cx="4095750" cy="76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484A9B69-89E9-5E4E-109B-2F79B66E556F}"/>
              </a:ext>
            </a:extLst>
          </p:cNvPr>
          <p:cNvSpPr/>
          <p:nvPr/>
        </p:nvSpPr>
        <p:spPr>
          <a:xfrm>
            <a:off x="4686300" y="1962150"/>
            <a:ext cx="0" cy="76200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780BECF-AFB6-F7AD-6A29-DD26C4FF17F5}"/>
              </a:ext>
            </a:extLst>
          </p:cNvPr>
          <p:cNvSpPr/>
          <p:nvPr/>
        </p:nvSpPr>
        <p:spPr>
          <a:xfrm>
            <a:off x="5147965" y="2139255"/>
            <a:ext cx="6726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AGILITE</a:t>
            </a:r>
            <a:endParaRPr lang="en-US" sz="105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B1815D0-AA9F-5F61-2EB6-F07CEE2FCA81}"/>
              </a:ext>
            </a:extLst>
          </p:cNvPr>
          <p:cNvSpPr/>
          <p:nvPr/>
        </p:nvSpPr>
        <p:spPr>
          <a:xfrm>
            <a:off x="4857749" y="2337463"/>
            <a:ext cx="382790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</a:pPr>
            <a:r>
              <a:rPr lang="fr-FR" sz="900" dirty="0">
                <a:latin typeface="Arial" panose="020B0604020202020204" pitchFamily="34" charset="0"/>
                <a:cs typeface="Arial" panose="020B0604020202020204" pitchFamily="34" charset="0"/>
              </a:rPr>
              <a:t>→ Requêtes SQL et calculs temps réel via Spark.</a:t>
            </a:r>
            <a:br>
              <a:rPr lang="fr-FR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9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fr-FR" sz="900" dirty="0" err="1">
                <a:latin typeface="Arial" panose="020B0604020202020204" pitchFamily="34" charset="0"/>
                <a:cs typeface="Arial" panose="020B0604020202020204" pitchFamily="34" charset="0"/>
              </a:rPr>
              <a:t>Dashboards</a:t>
            </a:r>
            <a:r>
              <a:rPr lang="fr-FR" sz="900" dirty="0">
                <a:latin typeface="Arial" panose="020B0604020202020204" pitchFamily="34" charset="0"/>
                <a:cs typeface="Arial" panose="020B0604020202020204" pitchFamily="34" charset="0"/>
              </a:rPr>
              <a:t> interactifs et personnalisables par métier.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A13242C-DA84-1C52-A592-4E7EBE5F456F}"/>
              </a:ext>
            </a:extLst>
          </p:cNvPr>
          <p:cNvSpPr/>
          <p:nvPr/>
        </p:nvSpPr>
        <p:spPr>
          <a:xfrm>
            <a:off x="4667250" y="2876550"/>
            <a:ext cx="4095750" cy="76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56821399-006C-66AF-3960-A8D271A212D6}"/>
              </a:ext>
            </a:extLst>
          </p:cNvPr>
          <p:cNvSpPr/>
          <p:nvPr/>
        </p:nvSpPr>
        <p:spPr>
          <a:xfrm>
            <a:off x="4686300" y="2876550"/>
            <a:ext cx="0" cy="76200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C910D36-0FA9-1A55-5121-FBBA259446B4}"/>
              </a:ext>
            </a:extLst>
          </p:cNvPr>
          <p:cNvSpPr/>
          <p:nvPr/>
        </p:nvSpPr>
        <p:spPr>
          <a:xfrm>
            <a:off x="5147965" y="3053655"/>
            <a:ext cx="1632662" cy="10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0D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BENEFICE GLOBAL</a:t>
            </a:r>
            <a:endParaRPr lang="en-US" sz="10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69013A0-FEA6-851D-95BD-8F9613B1DC31}"/>
              </a:ext>
            </a:extLst>
          </p:cNvPr>
          <p:cNvSpPr/>
          <p:nvPr/>
        </p:nvSpPr>
        <p:spPr>
          <a:xfrm>
            <a:off x="4857750" y="3314700"/>
            <a:ext cx="38279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</a:pPr>
            <a:r>
              <a:rPr lang="fr-FR" sz="900" dirty="0">
                <a:latin typeface="Arial" panose="020B0604020202020204" pitchFamily="34" charset="0"/>
                <a:cs typeface="Arial" panose="020B0604020202020204" pitchFamily="34" charset="0"/>
              </a:rPr>
              <a:t>→ Décisions data-</a:t>
            </a:r>
            <a:r>
              <a:rPr lang="fr-FR" sz="900" dirty="0" err="1">
                <a:latin typeface="Arial" panose="020B0604020202020204" pitchFamily="34" charset="0"/>
                <a:cs typeface="Arial" panose="020B0604020202020204" pitchFamily="34" charset="0"/>
              </a:rPr>
              <a:t>driven</a:t>
            </a:r>
            <a:r>
              <a:rPr lang="fr-FR" sz="900" dirty="0">
                <a:latin typeface="Arial" panose="020B0604020202020204" pitchFamily="34" charset="0"/>
                <a:cs typeface="Arial" panose="020B0604020202020204" pitchFamily="34" charset="0"/>
              </a:rPr>
              <a:t>          → Réduction des coûts et des délais</a:t>
            </a:r>
            <a:br>
              <a:rPr lang="fr-FR" sz="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900" dirty="0">
                <a:latin typeface="Arial" panose="020B0604020202020204" pitchFamily="34" charset="0"/>
                <a:cs typeface="Arial" panose="020B0604020202020204" pitchFamily="34" charset="0"/>
              </a:rPr>
              <a:t>→ Évolutivité garantie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508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0" y="0"/>
            <a:ext cx="2857500" cy="285750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238500"/>
            <a:ext cx="1905000" cy="1905000"/>
          </a:xfrm>
          <a:prstGeom prst="rect">
            <a:avLst/>
          </a:prstGeom>
          <a:solidFill>
            <a:srgbClr val="00B4D8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19406" y="1595586"/>
            <a:ext cx="510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Réponses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556730" y="2357586"/>
            <a:ext cx="2030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3000"/>
              </a:spcAft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744</Words>
  <Application>Microsoft Office PowerPoint</Application>
  <PresentationFormat>Affichage à l'écran (16:9)</PresentationFormat>
  <Paragraphs>172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Datalake - Présentation du projet</dc:title>
  <dc:subject>Solution complète de gestion et d'analyse de données</dc:subject>
  <dc:creator>Architecture Big Data</dc:creator>
  <cp:lastModifiedBy>Améto Cornelia ADANTO</cp:lastModifiedBy>
  <cp:revision>4</cp:revision>
  <dcterms:created xsi:type="dcterms:W3CDTF">2026-01-15T13:11:13Z</dcterms:created>
  <dcterms:modified xsi:type="dcterms:W3CDTF">2026-01-16T01:20:38Z</dcterms:modified>
</cp:coreProperties>
</file>